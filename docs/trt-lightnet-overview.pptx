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A1A1A"/>
                </a:solidFill>
              </a:rPr>
              <a:t>TensorRT-LightNet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3154680"/>
            <a:ext cx="4507992" cy="36576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44444"/>
                </a:solidFill>
              </a:rPr>
              <a:t>High-Efficiency Real-Time CNN Inference for Edge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88888"/>
                </a:solidFill>
              </a:rPr>
              <a:t>Technical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TIER IV, Inc.   ·   github.com/tier4/trt-lightnet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455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TensorRT-LightNet  |  TIER IV,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8426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2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402336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402336" cy="402336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2588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What is trt-lightnet?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280160"/>
            <a:ext cx="5486400" cy="402336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402336" cy="402336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8016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32588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Key Features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755648"/>
            <a:ext cx="5486400" cy="402336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755648"/>
            <a:ext cx="402336" cy="402336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75564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801368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Requirements &amp; Installation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755648"/>
            <a:ext cx="5486400" cy="402336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755648"/>
            <a:ext cx="402336" cy="402336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75564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1801368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Quick Start — Engine Build &amp; Inference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231136"/>
            <a:ext cx="5486400" cy="402336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231136"/>
            <a:ext cx="402336" cy="402336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23113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227685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Configuration Files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231136"/>
            <a:ext cx="5486400" cy="402336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2231136"/>
            <a:ext cx="402336" cy="402336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23113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227685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Multitask Inference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706624"/>
            <a:ext cx="5486400" cy="402336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2706624"/>
            <a:ext cx="402336" cy="402336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270662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2752344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Two-Stage Hierarchical Detection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2706624"/>
            <a:ext cx="5486400" cy="402336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2706624"/>
            <a:ext cx="402336" cy="402336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270662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2752344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Uncertainty Estimation &amp; BEV Projection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182112"/>
            <a:ext cx="5486400" cy="402336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3182112"/>
            <a:ext cx="402336" cy="402336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318211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322783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LiDAR Range Image Segmentation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3182112"/>
            <a:ext cx="5486400" cy="402336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09360" y="3182112"/>
            <a:ext cx="402336" cy="402336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318211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322783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Python API  (pylightnet)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657600"/>
            <a:ext cx="5486400" cy="402336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3657600"/>
            <a:ext cx="402336" cy="402336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36576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370332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Performance Optimization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3657600"/>
            <a:ext cx="5486400" cy="402336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09360" y="3657600"/>
            <a:ext cx="402336" cy="402336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36576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370332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Command-Line Reference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133087"/>
            <a:ext cx="5486400" cy="402336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7200" y="4133087"/>
            <a:ext cx="402336" cy="402336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4133087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4178807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Project Structure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09360" y="4133087"/>
            <a:ext cx="5486400" cy="402336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309360" y="4133087"/>
            <a:ext cx="402336" cy="402336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60" y="4133087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66560" y="4178807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What is trt-lightnet?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455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TensorRT-LightNet  |  TIER IV,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8426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3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trt-lightnet is a TensorRT-based CNN inference framework optimized for NVIDIA edge AI devices (Jetson Xavier, Orin, etc.). It combines LightNet — a lightweight neural network architecture — with TensorRT to deliver real-time multitask perception.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2194560" cy="384048"/>
          </a:xfrm>
          <a:prstGeom prst="rect">
            <a:avLst/>
          </a:prstGeom>
          <a:solidFill>
            <a:srgbClr val="006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LightNet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95728"/>
            <a:ext cx="2194560" cy="1078992"/>
          </a:xfrm>
          <a:prstGeom prst="rect">
            <a:avLst/>
          </a:prstGeom>
          <a:solidFill>
            <a:srgbClr val="F0F0F0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50592"/>
            <a:ext cx="20116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Lightweight CNN
architecture for
edge devices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1488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88"/>
                </a:solidFill>
              </a:rPr>
              <a:t>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011680"/>
            <a:ext cx="2194560" cy="384048"/>
          </a:xfrm>
          <a:prstGeom prst="rect">
            <a:avLst/>
          </a:prstGeom>
          <a:solidFill>
            <a:srgbClr val="006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201168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TensorRT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395728"/>
            <a:ext cx="2194560" cy="1078992"/>
          </a:xfrm>
          <a:prstGeom prst="rect">
            <a:avLst/>
          </a:prstGeom>
          <a:solidFill>
            <a:srgbClr val="F0F0F0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2450592"/>
            <a:ext cx="20116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NVIDIA inference
optimizer &amp; GPU
acceleration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1488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88"/>
                </a:solidFill>
              </a:rPr>
              <a:t>=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2011680"/>
            <a:ext cx="2194560" cy="384048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201168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trt-lightnet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395728"/>
            <a:ext cx="2194560" cy="1078992"/>
          </a:xfrm>
          <a:prstGeom prst="rect">
            <a:avLst/>
          </a:prstGeom>
          <a:solidFill>
            <a:srgbClr val="F0F0F0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2450592"/>
            <a:ext cx="20116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Real-time multitask
perception pipeline
for autonomous driving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Supports: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73152" cy="256032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1605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Object Detection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4160520"/>
            <a:ext cx="73152" cy="256032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41605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Semantic Segmentation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4160520"/>
            <a:ext cx="73152" cy="256032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1605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Depth Estimation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599431"/>
            <a:ext cx="73152" cy="256032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599431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LiDAR Range Image Segmentation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4599431"/>
            <a:ext cx="73152" cy="256032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4599431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Two-stage Hierarchical Classification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4599431"/>
            <a:ext cx="73152" cy="256032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4599431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Entropy-based Uncertainty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455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TensorRT-LightNet  |  TIER IV,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8426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4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37033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4864" cy="150876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38988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Multitask Inference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755648"/>
            <a:ext cx="329184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874519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Detection + Segmentation + Depth in a single forward pass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37033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54864" cy="150876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38988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Multi-Precision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62272" y="1755648"/>
            <a:ext cx="329184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1874519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FP32 / FP16 / INT8 with per-layer precision control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280160"/>
            <a:ext cx="37033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280160"/>
            <a:ext cx="54864" cy="150876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138988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2:4 Structured Sparsity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94192" y="1755648"/>
            <a:ext cx="329184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1874519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50% weight reduction, maintained accuracy on Ampere+ GPUs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944368"/>
            <a:ext cx="37033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2944368"/>
            <a:ext cx="54864" cy="150876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3054096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NVDLA Support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3419856"/>
            <a:ext cx="329184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3538727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Offload to Deep Learning Accelerator on Xavier / Orin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2944368"/>
            <a:ext cx="37033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2944368"/>
            <a:ext cx="54864" cy="150876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2272" y="3054096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Hierarchical Detection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62272" y="3419856"/>
            <a:ext cx="329184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62272" y="3538727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Two-stage subnet for fine-grained classification (e.g. TLR color)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2944368"/>
            <a:ext cx="37033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2944368"/>
            <a:ext cx="54864" cy="150876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94192" y="3054096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Uncertainty Estimation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94192" y="3419856"/>
            <a:ext cx="329184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94192" y="3538727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Entropy-based confidence maps from softmax outputs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608576"/>
            <a:ext cx="37033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4608576"/>
            <a:ext cx="54864" cy="150876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718304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BEV Projection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" y="5084064"/>
            <a:ext cx="329184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" y="5202936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Bird's Eye View from monocular depth maps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4608576"/>
            <a:ext cx="37033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97680" y="4608576"/>
            <a:ext cx="54864" cy="150876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62272" y="4718304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Range Image Segmentation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62272" y="5084064"/>
            <a:ext cx="329184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62272" y="5202936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LiDAR point cloud → range image → semantic segmentation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0" y="4608576"/>
            <a:ext cx="37033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29600" y="4608576"/>
            <a:ext cx="54864" cy="150876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94192" y="4718304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Python Bindings (pylightnet)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94192" y="5084064"/>
            <a:ext cx="329184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94192" y="5202936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ctypes-based wrapper for scripting and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Requirements &amp; Installation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455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TensorRT-LightNet  |  TIER IV,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8426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5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4937760" cy="32004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Requirements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1371600" cy="32004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26187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Dependency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554480"/>
            <a:ext cx="3566160" cy="32004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01952" y="1572768"/>
            <a:ext cx="345643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Version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74519"/>
            <a:ext cx="1371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892807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64"/>
                </a:solidFill>
              </a:rPr>
              <a:t>CUDA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1874519"/>
            <a:ext cx="3566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01952" y="1892807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11.0+  (tested: 11.4 / 11.7 / 11.8 / 12.x)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67127"/>
            <a:ext cx="137160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2185415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64"/>
                </a:solidFill>
              </a:rPr>
              <a:t>TensorRT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2167127"/>
            <a:ext cx="356616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01952" y="2185415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8.5 / 8.6 / 10.x  (TRT10 supported)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459736"/>
            <a:ext cx="1371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2478024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64"/>
                </a:solidFill>
              </a:rPr>
              <a:t>CMake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2459736"/>
            <a:ext cx="3566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01952" y="2478024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3.10+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752344"/>
            <a:ext cx="137160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2770632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64"/>
                </a:solidFill>
              </a:rPr>
              <a:t>GCC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2752344"/>
            <a:ext cx="356616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01952" y="2770632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≤ 11.x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044952"/>
            <a:ext cx="1371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3063239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64"/>
                </a:solidFill>
              </a:rPr>
              <a:t>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3044952"/>
            <a:ext cx="3566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01952" y="3063239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Ubuntu 22.04 / Jetson JetPack 5.1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337560"/>
            <a:ext cx="137160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3355848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64"/>
                </a:solidFill>
              </a:rPr>
              <a:t>Docker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0" y="3337560"/>
            <a:ext cx="356616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01952" y="3355848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24.0+  +  NVIDIA Container Toolkit 1.14+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52160" y="1234440"/>
            <a:ext cx="5943600" cy="320040"/>
          </a:xfrm>
          <a:prstGeom prst="rect">
            <a:avLst/>
          </a:prstGeom>
          <a:solidFill>
            <a:srgbClr val="006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0" y="12344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Local Install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52160" y="1554480"/>
            <a:ext cx="5943600" cy="43891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61888" y="1645920"/>
            <a:ext cx="572414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46A00"/>
                </a:solidFill>
              </a:rPr>
              <a:t># 1. Clone with submodules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git clone --recurse-submodules \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  git@github.com:tier4/trt-lightnet.git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/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# 2. Install system libraries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sudo apt install -y \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  libgflags-dev libboost-all-dev \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  libopencv-dev libeigen3-dev \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  nlohmann-json3-dev libssl-dev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/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# 3. Build &amp; install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mkdir build &amp;&amp; cd build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cmake ../ &amp;&amp; make -j$(nproc)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sudo make install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349240"/>
            <a:ext cx="4937760" cy="32004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349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Docker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669280"/>
            <a:ext cx="11338560" cy="89611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5760720"/>
            <a:ext cx="1111910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46A00"/>
                </a:solidFill>
              </a:rPr>
              <a:t>docker build -f Dockerfile_x86     -t trt-lightnet:latest .  # x86_64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docker build -f Dockerfile_aarch64 -t trt-lightnet:latest .  # Jetson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docker run -it --gpus all       trt-lightnet:latest   # x86_64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docker run -it --runtime=nvidia trt-lightnet:latest   # Jetson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</a:rPr>
              <a:t>Engine Build → Inference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8426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TensorRT-LightNet  |  TIER IV, Inc.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68426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6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11274552" cy="32004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Step 1 — Build TensorRT Engine  (ONNX → .engine)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11274552" cy="19202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45920"/>
            <a:ext cx="110550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46A00"/>
                </a:solidFill>
              </a:rPr>
              <a:t># FP32 — highest accuracy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./trt-lightnet --flagfile ../configs/CONFIG.txt --precision fp32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# FP16 — recommended for edge deployment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./trt-lightnet --flagfile ../configs/CONFIG.txt --precision fp16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# INT8 — fastest  (requires calibration images)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./trt-lightnet --flagfile ../configs/CONFIG.txt --precision int8 --first true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# DLA  — Xavier / Orin only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./trt-lightnet --flagfile ../configs/CONFIG.txt --precision int8 --first true --dla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20440"/>
            <a:ext cx="11274552" cy="347472"/>
          </a:xfrm>
          <a:prstGeom prst="rect">
            <a:avLst/>
          </a:prstGeom>
          <a:solidFill>
            <a:srgbClr val="FFF8E1"/>
          </a:solidFill>
          <a:ln w="9525">
            <a:solidFill>
              <a:srgbClr val="F0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4787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5500"/>
                </a:solidFill>
              </a:rPr>
              <a:t>  Note:  --first true skips INT8 quantization on the first layer (accuracy-sensitive).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77639"/>
            <a:ext cx="11274552" cy="320040"/>
          </a:xfrm>
          <a:prstGeom prst="rect">
            <a:avLst/>
          </a:prstGeom>
          <a:solidFill>
            <a:srgbClr val="006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77639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Step 2 — Run Inference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97680"/>
            <a:ext cx="11274552" cy="221284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389120"/>
            <a:ext cx="11055096" cy="202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46A00"/>
                </a:solidFill>
              </a:rPr>
              <a:t># --d  Image directory   (Space: next image,  q: quit)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./trt-lightnet --flagfile ../configs/CONFIG.txt --precision fp16 --d /path/to/images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# --v  Video file  (MP4, AVI, ...)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./trt-lightnet --flagfile ../configs/CONFIG.txt --precision fp16 --v /path/to/video.mp4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# --cam  Live camera  (OpenCV device ID: 0 = /dev/video0)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./trt-lightnet --flagfile ../configs/CONFIG.txt --precision fp16 --cam 0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# Save results to disk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./trt-lightnet --flagfile ../configs/CONFIG.txt --precision fp16 \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    --d images/ --save-detections true --save-detections-path ./output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Configuration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</a:rPr>
              <a:t>gflags-style plain text — one flag per line  ·  CLI flags override config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8426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TensorRT-LightNet  |  TIER IV, Inc.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68426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7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5394960" cy="32004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Detection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5394960" cy="26517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45920"/>
            <a:ext cx="5175504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46A00"/>
                </a:solidFill>
              </a:rPr>
              <a:t>--onnx=/path/to/model.onnx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--names=/path/to/classes.names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--rgb=/path/to/colormap.colormap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--precision=fp16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--anchors=8,9,36,11,15,28,40,36,29,72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--num_anchors=3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--c=10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--thresh=0.2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--nms_thresh=0.6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--cuda=true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5486400" cy="320040"/>
          </a:xfrm>
          <a:prstGeom prst="rect">
            <a:avLst/>
          </a:prstGeom>
          <a:solidFill>
            <a:srgbClr val="006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Two-stage (main + TLR subnet)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554480"/>
            <a:ext cx="5486400" cy="26517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645920"/>
            <a:ext cx="5266944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46A00"/>
                </a:solidFill>
              </a:rPr>
              <a:t># Main model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--onnx=/path/to/main.onnx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--names=main.names  --c=10  --thresh=0.2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/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# Subnet (e.g. traffic light recognition)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--subnet_onnx=/path/to/tlr.onnx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--subnet_names=tlr.names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--subnet_c=6  --subnet_thresh=0.2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--target_names=trigger.names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--batch_size=64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43400"/>
            <a:ext cx="11338560" cy="32004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434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Data File Formats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63440"/>
            <a:ext cx="2011680" cy="32004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4681727"/>
            <a:ext cx="190195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Extension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4663440"/>
            <a:ext cx="3200400" cy="32004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42032" y="4681727"/>
            <a:ext cx="309067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Format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4663440"/>
            <a:ext cx="6126480" cy="32004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42432" y="4681727"/>
            <a:ext cx="601675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83479"/>
            <a:ext cx="20116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5001768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64"/>
                </a:solidFill>
              </a:rPr>
              <a:t>.names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68880" y="4983479"/>
            <a:ext cx="3200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42032" y="5001768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One class name per 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4983479"/>
            <a:ext cx="61264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42432" y="5001768"/>
            <a:ext cx="6016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Detection class labels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76088"/>
            <a:ext cx="201168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5294376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64"/>
                </a:solidFill>
              </a:rPr>
              <a:t>.colormap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68880" y="5276088"/>
            <a:ext cx="320040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42032" y="5294376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R,G,B per line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5276088"/>
            <a:ext cx="612648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42432" y="5294376"/>
            <a:ext cx="6016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Per-class visualization colors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568695"/>
            <a:ext cx="20116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5586983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64"/>
                </a:solidFill>
              </a:rPr>
              <a:t>.csv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68880" y="5568695"/>
            <a:ext cx="3200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42032" y="5586983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id, name, r, g, b, is_dynamic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0" y="5568695"/>
            <a:ext cx="61264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42432" y="5586983"/>
            <a:ext cx="6016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Segmentation class metadata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861303"/>
            <a:ext cx="201168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" y="5879592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64"/>
                </a:solidFill>
              </a:rPr>
              <a:t>calibration_images.txt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68880" y="5861303"/>
            <a:ext cx="320040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42032" y="5879592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One image path per line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0" y="5861303"/>
            <a:ext cx="612648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42432" y="5879592"/>
            <a:ext cx="6016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INT8 calibration image list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Multitask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</a:rPr>
              <a:t>Detection · Segmentation · Depth — one forward pass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8426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TensorRT-LightNet  |  TIER IV, Inc.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68426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8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1600200" cy="5943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Input
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389888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58568" y="1280160"/>
            <a:ext cx="1600200" cy="59436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58568" y="1280160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Backbone
(LightNet)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1389888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59935" y="1280160"/>
            <a:ext cx="1600200" cy="594360"/>
          </a:xfrm>
          <a:prstGeom prst="rect">
            <a:avLst/>
          </a:prstGeom>
          <a:solidFill>
            <a:srgbClr val="006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59935" y="1280160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Neck
(FPN)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0136" y="1389888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61304" y="1280160"/>
            <a:ext cx="1600200" cy="594360"/>
          </a:xfrm>
          <a:prstGeom prst="rect">
            <a:avLst/>
          </a:prstGeom>
          <a:solidFill>
            <a:srgbClr val="E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61304" y="1280160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Detection
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1504" y="1389888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62671" y="1280160"/>
            <a:ext cx="1600200" cy="594360"/>
          </a:xfrm>
          <a:prstGeom prst="rect">
            <a:avLst/>
          </a:prstGeom>
          <a:solidFill>
            <a:srgbClr val="800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62671" y="1280160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Seg
Head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1389888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64040" y="1280160"/>
            <a:ext cx="1600200" cy="594360"/>
          </a:xfrm>
          <a:prstGeom prst="rect">
            <a:avLst/>
          </a:prstGeom>
          <a:solidFill>
            <a:srgbClr val="C00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1280160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Depth
Head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103120"/>
            <a:ext cx="3657600" cy="347472"/>
          </a:xfrm>
          <a:prstGeom prst="rect">
            <a:avLst/>
          </a:prstGeom>
          <a:solidFill>
            <a:srgbClr val="E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12140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Object Detection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450592"/>
            <a:ext cx="3657600" cy="804672"/>
          </a:xfrm>
          <a:prstGeom prst="rect">
            <a:avLst/>
          </a:prstGeom>
          <a:solidFill>
            <a:srgbClr val="F0F0F0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2496312"/>
            <a:ext cx="34381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Bounding boxes with class label,
confidence score, and optional keypoints.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2103120"/>
            <a:ext cx="3657600" cy="347472"/>
          </a:xfrm>
          <a:prstGeom prst="rect">
            <a:avLst/>
          </a:prstGeom>
          <a:solidFill>
            <a:srgbClr val="800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59" y="212140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Semantic Segmentation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2450592"/>
            <a:ext cx="3657600" cy="804672"/>
          </a:xfrm>
          <a:prstGeom prst="rect">
            <a:avLst/>
          </a:prstGeom>
          <a:solidFill>
            <a:srgbClr val="F0F0F0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8848" y="2496312"/>
            <a:ext cx="34381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Per-pixel class labels rendered
with configurable colormap.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2103120"/>
            <a:ext cx="3657600" cy="347472"/>
          </a:xfrm>
          <a:prstGeom prst="rect">
            <a:avLst/>
          </a:prstGeom>
          <a:solidFill>
            <a:srgbClr val="C00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212140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Depth Estimation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2450592"/>
            <a:ext cx="3657600" cy="804672"/>
          </a:xfrm>
          <a:prstGeom prst="rect">
            <a:avLst/>
          </a:prstGeom>
          <a:solidFill>
            <a:srgbClr val="F0F0F0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0767" y="2496312"/>
            <a:ext cx="34381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Dense depth map →
BEV occupancy grid (requires fx, fy).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429000"/>
            <a:ext cx="11274552" cy="32004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4290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Config — detection + segmentation + depth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749039"/>
            <a:ext cx="11274552" cy="10972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3840479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46A00"/>
                </a:solidFill>
              </a:rPr>
              <a:t>--onnx=multitask.onnx  --names=classes.names  --rgb=detect.colormap  --precision=fp16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--anchors=8,9,36,11,15,28  --num_anchors=3  --c=8  --thresh=0.2  --cuda=true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--mask=segmentation.csv              # segmentation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--fx=1000.0  --fy=1000.0  --max_distance=80.0   # depth / BEV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983480"/>
            <a:ext cx="11274552" cy="320040"/>
          </a:xfrm>
          <a:prstGeom prst="rect">
            <a:avLst/>
          </a:prstGeom>
          <a:solidFill>
            <a:srgbClr val="006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98348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Python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303520"/>
            <a:ext cx="11274552" cy="8229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5394959"/>
            <a:ext cx="110550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46A00"/>
                </a:solidFill>
              </a:rPr>
              <a:t>lightnet.infer(frame, cuda=True)                        # run multitask inference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bboxes = lightnet.get_bboxes()                          # detection results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masks  = lightnet.get_masks_from_cpp()                  # segmentation masks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Two-Stage Hierarchical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</a:rPr>
              <a:t>Main model → crop ROIs → subnet classifier  (e.g. Traffic Light Recognition)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8426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TensorRT-LightNet  |  TIER IV, Inc.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68426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9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1920240" cy="6858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Full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389888"/>
            <a:ext cx="320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888"/>
                </a:solidFill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33472" y="1280160"/>
            <a:ext cx="1920240" cy="68580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28016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Main Model
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389888"/>
            <a:ext cx="320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888"/>
                </a:solidFill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9744" y="1280160"/>
            <a:ext cx="1920240" cy="685800"/>
          </a:xfrm>
          <a:prstGeom prst="rect">
            <a:avLst/>
          </a:prstGeom>
          <a:solidFill>
            <a:srgbClr val="006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9744" y="128016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Crop ROIs
(target class)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9983" y="1389888"/>
            <a:ext cx="320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888"/>
                </a:solidFill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86016" y="1280160"/>
            <a:ext cx="1920240" cy="685800"/>
          </a:xfrm>
          <a:prstGeom prst="rect">
            <a:avLst/>
          </a:prstGeom>
          <a:solidFill>
            <a:srgbClr val="E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86016" y="128016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Subnet
Batch Infer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6256" y="1389888"/>
            <a:ext cx="320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888"/>
                </a:solidFill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62288" y="1280160"/>
            <a:ext cx="1920240" cy="685800"/>
          </a:xfrm>
          <a:prstGeom prst="rect">
            <a:avLst/>
          </a:prstGeom>
          <a:solidFill>
            <a:srgbClr val="800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62288" y="128016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Fine-grained
Result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194560"/>
            <a:ext cx="5394960" cy="32004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1945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Main 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514600"/>
            <a:ext cx="5394960" cy="32918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2606040"/>
            <a:ext cx="517550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44444"/>
                </a:solidFill>
              </a:rPr>
              <a:t>• Detects all object categories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• Instances matching --target_names trigger subnet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  (e.g. traffic_light.names activates TLR subnet)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/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Key flags: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  --onnx           Main ONNX model path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  --c              Number of main classes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  --thresh         Detection threshold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  --target_names   Trigger class list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194560"/>
            <a:ext cx="5486400" cy="320040"/>
          </a:xfrm>
          <a:prstGeom prst="rect">
            <a:avLst/>
          </a:prstGeom>
          <a:solidFill>
            <a:srgbClr val="006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2194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Subnet Classifier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514600"/>
            <a:ext cx="5486400" cy="32918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2606040"/>
            <a:ext cx="526694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44444"/>
                </a:solidFill>
              </a:rPr>
              <a:t>• Crops batch-processed at --batch_size (e.g. 64)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• Higher resolution → finer classification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• Outputs subclass per detected instance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  e.g. red / amber / green / left / right arrow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/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Key flags: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  --subnet_onnx     Subnet ONNX model path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  --subnet_c        Number of subnet classes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  --subnet_thresh   Subnet confidence threshold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  --batch_size      Crop batch size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Uncertainty Estimation &amp; BEV Projection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455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TensorRT-LightNet  |  TIER IV,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8426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10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394960" cy="32004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Uncertainty Estimation  (--entropy)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394960" cy="4846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645920"/>
            <a:ext cx="5175504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44444"/>
                </a:solidFill>
              </a:rPr>
              <a:t>Computes Shannon entropy from softmax output: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  H(x) = −Σ p(c|x) · log p(c|x)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/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High entropy → low model confidence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Useful for OOD / uncertainty-aware driving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/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Output: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  • Per-pixel entropy maps (heatmap)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  • Per-class scalar entropy values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/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Python API: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  lightnet.make_entropy()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  maps = lightnet.get_entropy_maps_from_cpp()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  vals = lightnet.get_entropies()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234440"/>
            <a:ext cx="5486400" cy="320040"/>
          </a:xfrm>
          <a:prstGeom prst="rect">
            <a:avLst/>
          </a:prstGeom>
          <a:solidFill>
            <a:srgbClr val="006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Bird's Eye View  (BEV) Projection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554480"/>
            <a:ext cx="5486400" cy="4846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645920"/>
            <a:ext cx="5266944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44444"/>
                </a:solidFill>
              </a:rPr>
              <a:t>Back-projects depth map into top-down grid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using pin-hole camera model: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/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Pipeline: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  1. Depth head → dense depth map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  2. Back-projection with fx, fy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  3. Height map → jet/magma colorized BEV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  4. Optional road-plane smoothing (--smooth)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/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Required config: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  --fx            Horizontal focal length (px)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  --fy            Vertical focal length (px)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  --max_distance  Max depth range (m)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/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Optional: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  --smooth  Road segmentation-guided correction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LiDAR Range Image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</a:rPr>
              <a:t>Point cloud → range image → semantic segmentation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8426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TensorRT-LightNet  |  TIER IV, Inc.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68426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11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1920240" cy="77724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LiDAR
Point Cloud
(.bin)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426464"/>
            <a:ext cx="3383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888"/>
                </a:solidFill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24328" y="1280160"/>
            <a:ext cx="1920240" cy="77724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24328" y="128016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Range Image
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426464"/>
            <a:ext cx="3383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888"/>
                </a:solidFill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1456" y="1280160"/>
            <a:ext cx="1920240" cy="777240"/>
          </a:xfrm>
          <a:prstGeom prst="rect">
            <a:avLst/>
          </a:prstGeom>
          <a:solidFill>
            <a:srgbClr val="006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91456" y="128016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TensorRT
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1696" y="1426464"/>
            <a:ext cx="3383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888"/>
                </a:solidFill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58584" y="1280160"/>
            <a:ext cx="1920240" cy="777240"/>
          </a:xfrm>
          <a:prstGeom prst="rect">
            <a:avLst/>
          </a:prstGeom>
          <a:solidFill>
            <a:srgbClr val="E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8584" y="128016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Segmentation
Mask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8824" y="1426464"/>
            <a:ext cx="3383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888"/>
                </a:solidFill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25712" y="1280160"/>
            <a:ext cx="1920240" cy="777240"/>
          </a:xfrm>
          <a:prstGeom prst="rect">
            <a:avLst/>
          </a:prstGeom>
          <a:solidFill>
            <a:srgbClr val="800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25712" y="128016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Entropy Map
(optional)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240280"/>
            <a:ext cx="5394960" cy="32004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2402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CLI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560320"/>
            <a:ext cx="5394960" cy="29260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2651760"/>
            <a:ext cx="517550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46A00"/>
                </a:solidFill>
              </a:rPr>
              <a:t>./trt-lightnet \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  --flagfile configs/RangeImage.txt \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  --precision fp16 \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  --lidar \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  --camera_name CAM_FRONT_WIDE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/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Key flags: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  --lidar         Enable range image mode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  --camera_name   Sensor identifier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  --entropy       Enable uncertainty maps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240280"/>
            <a:ext cx="5486400" cy="320040"/>
          </a:xfrm>
          <a:prstGeom prst="rect">
            <a:avLst/>
          </a:prstGeom>
          <a:solidFill>
            <a:srgbClr val="006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2240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Python — T4 Dataset Demo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560320"/>
            <a:ext cx="5486400" cy="29260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2651760"/>
            <a:ext cx="526694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46A00"/>
                </a:solidFill>
              </a:rPr>
              <a:t>python scripts/range_image_demo.py \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  --t4dataset /path/to/t4d \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  --camera-name CAM_FRONT_WIDE \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  --flagfile configs/RangeImage.txt \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  --save-segmentation \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  --save-uncertainty \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  --output-dir ./output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/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Outputs: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  {stem}_seg_{i}.png          segmentation mask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  {stem}_uncertainty_{i}.png  entropy map</a:t>
            </a:r>
          </a:p>
          <a:p>
            <a:pPr algn="l"/>
            <a:r>
              <a:rPr sz="1200">
                <a:solidFill>
                  <a:srgbClr val="246A00"/>
                </a:solidFill>
              </a:rPr>
              <a:t>  {stem}_range_image.png      raw range image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Python API — pylightnet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</a:rPr>
              <a:t>ctypes-based wrapper  ·  cd python &amp;&amp; pip install 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8426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TensorRT-LightNet  |  TIER IV, Inc.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68426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12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4114800" cy="32004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Install &amp; Demo Scripts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4114800" cy="28346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45920"/>
            <a:ext cx="389534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46A00"/>
                </a:solidFill>
              </a:rPr>
              <a:t>cd python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pip install setuptools==68.2.2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pip install .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/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# Video demo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python scripts/demo.py -f config.txt -v video.mp4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/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# T4 dataset (LiDAR)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python scripts/range_image_demo.py \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  -t4d /t4d -cam CAM_FRONT_WIDE -f cfg.txt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234440"/>
            <a:ext cx="6949440" cy="320040"/>
          </a:xfrm>
          <a:prstGeom prst="rect">
            <a:avLst/>
          </a:prstGeom>
          <a:solidFill>
            <a:srgbClr val="006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23444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API Usage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554480"/>
            <a:ext cx="6949440" cy="48463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645920"/>
            <a:ext cx="6729983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46A00"/>
                </a:solidFill>
              </a:rPr>
              <a:t>import pylightnet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/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config   = pylightnet.load_config('config.txt')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lightnet = pylightnet.create_lightnet_from_config(config)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/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lightnet.infer(frame, cuda=True)            # BGR numpy array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/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# Detection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bboxes = lightnet.get_bboxes()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pylightnet.draw_bboxes_on_image(frame, bboxes, colormap, names)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/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# Segmentation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seg_data   = pylightnet.load_segmentation_data(config['mask'])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lightnet.make_mask(lightnet.segmentation_to_argmax2bgr(seg_data))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masks = lightnet.get_masks_from_cpp()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/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# Uncertainty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lightnet.make_entropy()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entropy_maps = lightnet.get_entropy_maps_from_cpp()</a:t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/>
            </a:r>
          </a:p>
          <a:p>
            <a:pPr algn="l"/>
            <a:r>
              <a:rPr sz="1100">
                <a:solidFill>
                  <a:srgbClr val="246A00"/>
                </a:solidFill>
              </a:rPr>
              <a:t>lightnet.destroy()                          # free GPU memory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4114800" cy="32004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Docker Test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00600"/>
            <a:ext cx="4114800" cy="4114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892040"/>
            <a:ext cx="38953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46A00"/>
                </a:solidFill>
              </a:rPr>
              <a:t>make test-pylightnet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Performance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455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TensorRT-LightNet  |  TIER IV,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8426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13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370332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3703320" cy="347472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1673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FP16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27631"/>
            <a:ext cx="3703320" cy="5486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19072"/>
            <a:ext cx="3483863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46A00"/>
                </a:solidFill>
              </a:rPr>
              <a:t>--precision fp16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267712"/>
            <a:ext cx="3483864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~2× faster than FP32.
Negligible accuracy loss.
Recommended for most deployments.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370332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3703320" cy="347472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31673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627631"/>
            <a:ext cx="3703320" cy="5486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1719072"/>
            <a:ext cx="3483863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46A00"/>
                </a:solidFill>
              </a:rPr>
              <a:t>--precision int8 --first true
--calib Entropy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267712"/>
            <a:ext cx="3483864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~4× faster than FP32.
Requires 50–500 calibration images.
--first true protects first layer.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280160"/>
            <a:ext cx="370332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280160"/>
            <a:ext cx="3703320" cy="347472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31673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2:4 Sparsity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627631"/>
            <a:ext cx="3703320" cy="5486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7" y="1719072"/>
            <a:ext cx="3483863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46A00"/>
                </a:solidFill>
              </a:rPr>
              <a:t>--sparse true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2267712"/>
            <a:ext cx="3483864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50% weight reduction.
Requires Ampere+ GPU.
Model must be sparsity-aware trained.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886200"/>
            <a:ext cx="370332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886200"/>
            <a:ext cx="3703320" cy="347472"/>
          </a:xfrm>
          <a:prstGeom prst="rect">
            <a:avLst/>
          </a:prstGeom>
          <a:solidFill>
            <a:srgbClr val="006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92277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NVDLA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233672"/>
            <a:ext cx="3703320" cy="5486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4325112"/>
            <a:ext cx="3483863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46A00"/>
                </a:solidFill>
              </a:rPr>
              <a:t>--dla 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4873752"/>
            <a:ext cx="3483864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Offload to DLA accelerator.
Xavier / Orin only.
Reduces GPU power consumption.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3886200"/>
            <a:ext cx="370332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3886200"/>
            <a:ext cx="3703320" cy="347472"/>
          </a:xfrm>
          <a:prstGeom prst="rect">
            <a:avLst/>
          </a:prstGeom>
          <a:solidFill>
            <a:srgbClr val="006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392277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Per-layer Profile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4233672"/>
            <a:ext cx="3703320" cy="5486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07408" y="4325112"/>
            <a:ext cx="3483863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46A00"/>
                </a:solidFill>
              </a:rPr>
              <a:t>--profile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07408" y="4873752"/>
            <a:ext cx="3483864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Prints per-layer latency.
Helps identify bottleneck layers
for precision tuning.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3886200"/>
            <a:ext cx="370332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3886200"/>
            <a:ext cx="3703320" cy="347472"/>
          </a:xfrm>
          <a:prstGeom prst="rect">
            <a:avLst/>
          </a:prstGeom>
          <a:solidFill>
            <a:srgbClr val="006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392277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GPU Preprocess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4233672"/>
            <a:ext cx="3703320" cy="5486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39327" y="4325112"/>
            <a:ext cx="3483863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46A00"/>
                </a:solidFill>
              </a:rPr>
              <a:t>infer(frame, cuda=True)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9327" y="4873752"/>
            <a:ext cx="3483864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Resize + normalize on GPU.
Avoids CPU↔GPU transfer.
Enabled via CUDA kernels.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Command-Line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</a:rPr>
              <a:t>Full list in  src/config_parser.cpp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8426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TensorRT-LightNet  |  TIER IV, Inc.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68426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14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3749039" cy="32004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252728"/>
            <a:ext cx="361187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Core Flags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554480"/>
            <a:ext cx="374903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609344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64"/>
                </a:solidFill>
              </a:rPr>
              <a:t>--flagfile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1883664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[string]  Path to config file  (required)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212848"/>
            <a:ext cx="3749039" cy="65836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267712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64"/>
                </a:solidFill>
              </a:rPr>
              <a:t>--precision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2542032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[string]  fp32 / fp16 / int8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871215"/>
            <a:ext cx="374903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2926079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64"/>
                </a:solidFill>
              </a:rPr>
              <a:t>--onnx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3200399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[string]  ONNX model path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529584"/>
            <a:ext cx="3749039" cy="65836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3584448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64"/>
                </a:solidFill>
              </a:rPr>
              <a:t>--names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3858768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[string]  Class names file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187952"/>
            <a:ext cx="374903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4242816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64"/>
                </a:solidFill>
              </a:rPr>
              <a:t>--c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4517136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[int]  Number of detection classes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846320"/>
            <a:ext cx="3749039" cy="65836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4901183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64"/>
                </a:solidFill>
              </a:rPr>
              <a:t>--thresh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5175504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[float]  Detection confidence threshold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504688"/>
            <a:ext cx="374903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79" y="5559552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64"/>
                </a:solidFill>
              </a:rPr>
              <a:t>--nms_thresh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5833872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[float]  NMS IoU threshold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60" y="1234440"/>
            <a:ext cx="3749039" cy="320040"/>
          </a:xfrm>
          <a:prstGeom prst="rect">
            <a:avLst/>
          </a:prstGeom>
          <a:solidFill>
            <a:srgbClr val="006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1252728"/>
            <a:ext cx="361187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Input Source  (choose one)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1554480"/>
            <a:ext cx="374903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1609344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AC1"/>
                </a:solidFill>
              </a:rPr>
              <a:t>--d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1883664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[string]  Image directory (Space: next,  q: quit)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60" y="2212848"/>
            <a:ext cx="3749039" cy="65836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43400" y="2267712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AC1"/>
                </a:solidFill>
              </a:rPr>
              <a:t>--v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2542032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[string]  Video file  (MP4, AVI, ...)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51960" y="2871215"/>
            <a:ext cx="374903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43400" y="2926079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AC1"/>
                </a:solidFill>
              </a:rPr>
              <a:t>--cam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3200399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[int]  Live camera device ID  (0 = /dev/video0)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51960" y="3529584"/>
            <a:ext cx="3749039" cy="65836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43400" y="3584448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AC1"/>
                </a:solidFill>
              </a:rPr>
              <a:t>--save-detections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43400" y="3858768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[bool]  Save output images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51960" y="4187952"/>
            <a:ext cx="374903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43400" y="4242816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AC1"/>
                </a:solidFill>
              </a:rPr>
              <a:t>--save-detections-path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43400" y="4517136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[string]  Output directory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51960" y="4846320"/>
            <a:ext cx="3749039" cy="65836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43400" y="4901183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AC1"/>
                </a:solidFill>
              </a:rPr>
              <a:t>--profile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43400" y="5175504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[bool]  Print per-layer latency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83879" y="1234440"/>
            <a:ext cx="3749039" cy="320040"/>
          </a:xfrm>
          <a:prstGeom prst="rect">
            <a:avLst/>
          </a:prstGeom>
          <a:solidFill>
            <a:srgbClr val="E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75319" y="1252728"/>
            <a:ext cx="361187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Model Optimization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83879" y="1554480"/>
            <a:ext cx="374903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75319" y="1609344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7000"/>
                </a:solidFill>
              </a:rPr>
              <a:t>--first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75319" y="1883664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[bool]  Skip INT8 quant on first layer  (recommended: true)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83879" y="2212848"/>
            <a:ext cx="3749039" cy="65836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75319" y="2267712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7000"/>
                </a:solidFill>
              </a:rPr>
              <a:t>--last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5319" y="2542032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[bool]  Skip INT8 quant on last layer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83879" y="2871215"/>
            <a:ext cx="374903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75319" y="2926079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7000"/>
                </a:solidFill>
              </a:rPr>
              <a:t>--sparse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75319" y="3200399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[bool]  2:4 structured sparsity  (Ampere+ only)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83879" y="3529584"/>
            <a:ext cx="3749039" cy="65836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75319" y="3584448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7000"/>
                </a:solidFill>
              </a:rPr>
              <a:t>--dla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75319" y="3858768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[int]  DLA core 0 or 1  (Xavier / Orin only)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83879" y="4187952"/>
            <a:ext cx="374903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75319" y="4242816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7000"/>
                </a:solidFill>
              </a:rPr>
              <a:t>--calib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75319" y="4517136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[string]  INT8 calib: Entropy / MinMax / Percentile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83879" y="4846320"/>
            <a:ext cx="3749039" cy="65836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75319" y="4901183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7000"/>
                </a:solidFill>
              </a:rPr>
              <a:t>--calibration_images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75319" y="5175504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[string]  Calibration image list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Tips — Model Optimization 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</a:rPr>
              <a:t>--first  ·  --sparse  ·  --dla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8426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TensorRT-LightNet  |  TIER IV, Inc.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68426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15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3657600" cy="32004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--first  /  --last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3657600" cy="46634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45920"/>
            <a:ext cx="3438144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44444"/>
                </a:solidFill>
              </a:rPr>
              <a:t>The first (and last) conv layers process raw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pixel values and have a much wider activation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dynamic range than intermediate layers.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/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Quantizing them to INT8 often causes a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noticeable accuracy drop.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/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→  --first true keeps the first layer in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   FP32/FP16 while all others run in INT8.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/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Recommended for all INT8 deployments: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  --precision int8 --first true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234440"/>
            <a:ext cx="3657600" cy="320040"/>
          </a:xfrm>
          <a:prstGeom prst="rect">
            <a:avLst/>
          </a:prstGeom>
          <a:solidFill>
            <a:srgbClr val="006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--sparse  (2:4 Structured Sparsity)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1627632"/>
            <a:ext cx="80467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627632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0.3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21808" y="1627632"/>
            <a:ext cx="804672" cy="384048"/>
          </a:xfrm>
          <a:prstGeom prst="rect">
            <a:avLst/>
          </a:prstGeom>
          <a:solidFill>
            <a:srgbClr val="F0F0F0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1808" y="1627632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8888"/>
                </a:solidFill>
              </a:rPr>
              <a:t>0.0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3056" y="1627632"/>
            <a:ext cx="80467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3056" y="1627632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0.1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4304" y="1627632"/>
            <a:ext cx="804672" cy="384048"/>
          </a:xfrm>
          <a:prstGeom prst="rect">
            <a:avLst/>
          </a:prstGeom>
          <a:solidFill>
            <a:srgbClr val="F0F0F0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04304" y="1627632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8888"/>
                </a:solidFill>
              </a:rPr>
              <a:t>0.0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057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</a:rPr>
              <a:t>2 zeros forced per 4 weights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2377440"/>
            <a:ext cx="3657600" cy="3840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2468880"/>
            <a:ext cx="343814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44444"/>
                </a:solidFill>
              </a:rPr>
              <a:t>NVIDIA Ampere sparse tensor cores execute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pruned weights at ~2× GPU throughput.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/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Requirements: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  • Ampere GPU or later  (RTX 30xx / A-series)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  • Model trained with sparsity-aware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    training  (NVIDIA ASP / PyTorch)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/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Enabling --sparse on a dense model will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degrade accuracy — train first.</a:t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/>
            </a:r>
          </a:p>
          <a:p>
            <a:pPr algn="l"/>
            <a:r>
              <a:rPr sz="1200">
                <a:solidFill>
                  <a:srgbClr val="444444"/>
                </a:solidFill>
              </a:rPr>
              <a:t>  --precision fp16 --sparse true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1234440"/>
            <a:ext cx="3383280" cy="320040"/>
          </a:xfrm>
          <a:prstGeom prst="rect">
            <a:avLst/>
          </a:prstGeom>
          <a:solidFill>
            <a:srgbClr val="E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1234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--dla  (NVDLA — Xavier / Orin only)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1554480"/>
            <a:ext cx="3383280" cy="46634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13648" y="1645920"/>
            <a:ext cx="3163824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444444"/>
                </a:solidFill>
              </a:rPr>
              <a:t>DLA is a dedicated fixed-function HW</a:t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>accelerator inside Jetson Xavier / Orin.</a:t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/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>Benefits:</a:t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>  • Frees GPU for other workloads</a:t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>  • Significantly lower power draw</a:t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>  • Two independent cores (0 and 1)</a:t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/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>Constraints:</a:t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>  • INT8 precision only</a:t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>  • Unsupported layers fall back to GPU</a:t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>  • NOT available on desktop/server GPUs</a:t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/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>  --precision int8 --first true --dla 0</a:t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/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>Ref: TIER IV Tech Blog (docswell 2023)</a:t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>  docswell.com/s/TIER_IV/</a:t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>  KGX2L8-2023-07-24-120048#p27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Project Structure &amp;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455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TensorRT-LightNet  |  TIER IV,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8426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16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943600" cy="32004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Directory 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943600" cy="46634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645920"/>
            <a:ext cx="5724144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246A00"/>
                </a:solidFill>
              </a:rPr>
              <a:t>trt-lightnet/</a:t>
            </a:r>
          </a:p>
          <a:p>
            <a:pPr algn="l"/>
            <a:r>
              <a:rPr sz="1000">
                <a:solidFill>
                  <a:srgbClr val="246A00"/>
                </a:solidFill>
              </a:rPr>
              <a:t>├── configs/    config files (.txt) &amp; precision tables (.json)</a:t>
            </a:r>
          </a:p>
          <a:p>
            <a:pPr algn="l"/>
            <a:r>
              <a:rPr sz="1000">
                <a:solidFill>
                  <a:srgbClr val="246A00"/>
                </a:solidFill>
              </a:rPr>
              <a:t>├── data/       colormaps, class names, segmentation CSVs</a:t>
            </a:r>
          </a:p>
          <a:p>
            <a:pPr algn="l"/>
            <a:r>
              <a:rPr sz="1000">
                <a:solidFill>
                  <a:srgbClr val="246A00"/>
                </a:solidFill>
              </a:rPr>
              <a:t>├── include/</a:t>
            </a:r>
          </a:p>
          <a:p>
            <a:pPr algn="l"/>
            <a:r>
              <a:rPr sz="1000">
                <a:solidFill>
                  <a:srgbClr val="246A00"/>
                </a:solidFill>
              </a:rPr>
              <a:t>│   ├── tensorrt_lightnet/  inference engine headers</a:t>
            </a:r>
          </a:p>
          <a:p>
            <a:pPr algn="l"/>
            <a:r>
              <a:rPr sz="1000">
                <a:solidFill>
                  <a:srgbClr val="246A00"/>
                </a:solidFill>
              </a:rPr>
              <a:t>│   ├── tensorrt_common/    TensorRT wrapper</a:t>
            </a:r>
          </a:p>
          <a:p>
            <a:pPr algn="l"/>
            <a:r>
              <a:rPr sz="1000">
                <a:solidFill>
                  <a:srgbClr val="246A00"/>
                </a:solidFill>
              </a:rPr>
              <a:t>│   ├── cuda_utils/         CUDA memory helpers</a:t>
            </a:r>
          </a:p>
          <a:p>
            <a:pPr algn="l"/>
            <a:r>
              <a:rPr sz="1000">
                <a:solidFill>
                  <a:srgbClr val="246A00"/>
                </a:solidFill>
              </a:rPr>
              <a:t>│   ├── sensor/             calibration parsing</a:t>
            </a:r>
          </a:p>
          <a:p>
            <a:pPr algn="l"/>
            <a:r>
              <a:rPr sz="1000">
                <a:solidFill>
                  <a:srgbClr val="246A00"/>
                </a:solidFill>
              </a:rPr>
              <a:t>│   └── pcdUtils/           point cloud utilities</a:t>
            </a:r>
          </a:p>
          <a:p>
            <a:pPr algn="l"/>
            <a:r>
              <a:rPr sz="1000">
                <a:solidFill>
                  <a:srgbClr val="246A00"/>
                </a:solidFill>
              </a:rPr>
              <a:t>├── src/</a:t>
            </a:r>
          </a:p>
          <a:p>
            <a:pPr algn="l"/>
            <a:r>
              <a:rPr sz="1000">
                <a:solidFill>
                  <a:srgbClr val="246A00"/>
                </a:solidFill>
              </a:rPr>
              <a:t>│   ├── lightnet_detector.cpp   main executable</a:t>
            </a:r>
          </a:p>
          <a:p>
            <a:pPr algn="l"/>
            <a:r>
              <a:rPr sz="1000">
                <a:solidFill>
                  <a:srgbClr val="246A00"/>
                </a:solidFill>
              </a:rPr>
              <a:t>│   ├── tensorrt_lightnet/      inference implementation</a:t>
            </a:r>
          </a:p>
          <a:p>
            <a:pPr algn="l"/>
            <a:r>
              <a:rPr sz="1000">
                <a:solidFill>
                  <a:srgbClr val="246A00"/>
                </a:solidFill>
              </a:rPr>
              <a:t>│   ├── preprocess.cu           GPU preprocessing kernels</a:t>
            </a:r>
          </a:p>
          <a:p>
            <a:pPr algn="l"/>
            <a:r>
              <a:rPr sz="1000">
                <a:solidFill>
                  <a:srgbClr val="246A00"/>
                </a:solidFill>
              </a:rPr>
              <a:t>│   └── config_parser.cpp       gflags config parsing</a:t>
            </a:r>
          </a:p>
          <a:p>
            <a:pPr algn="l"/>
            <a:r>
              <a:rPr sz="1000">
                <a:solidFill>
                  <a:srgbClr val="246A00"/>
                </a:solidFill>
              </a:rPr>
              <a:t>├── python/</a:t>
            </a:r>
          </a:p>
          <a:p>
            <a:pPr algn="l"/>
            <a:r>
              <a:rPr sz="1000">
                <a:solidFill>
                  <a:srgbClr val="246A00"/>
                </a:solidFill>
              </a:rPr>
              <a:t>│   ├── _pylightnet.py          ctypes wrapper</a:t>
            </a:r>
          </a:p>
          <a:p>
            <a:pPr algn="l"/>
            <a:r>
              <a:rPr sz="1000">
                <a:solidFill>
                  <a:srgbClr val="246A00"/>
                </a:solidFill>
              </a:rPr>
              <a:t>│   └── scripts/                demo &amp; utility scripts</a:t>
            </a:r>
          </a:p>
          <a:p>
            <a:pPr algn="l"/>
            <a:r>
              <a:rPr sz="1000">
                <a:solidFill>
                  <a:srgbClr val="246A00"/>
                </a:solidFill>
              </a:rPr>
              <a:t>└── Dockerfile_x86 / _aarch64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1234440"/>
            <a:ext cx="5029200" cy="320040"/>
          </a:xfrm>
          <a:prstGeom prst="rect">
            <a:avLst/>
          </a:prstGeom>
          <a:solidFill>
            <a:srgbClr val="006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234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References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554480"/>
            <a:ext cx="5029200" cy="46634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6288" y="1645920"/>
            <a:ext cx="4809744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444444"/>
                </a:solidFill>
              </a:rPr>
              <a:t>[1]  LightNet — base CNN architecture</a:t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>     github.com/daniel89710/lightNet</a:t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/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>[2]  TensorRT — NVIDIA inference optimizer</a:t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>     developer.nvidia.com/tensorrt</a:t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/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>[3]  2:4 Structured Sparsity</a:t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>     NVIDIA Developer Blog (2022)</a:t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/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>[4]  NVDLA — nvdla.org</a:t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/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>[5]  INT8 Quantization Aware Training</a:t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>     NVIDIA Developer Blog (2021)</a:t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/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>[6]  lightNet-TR (original)</a:t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>     github.com/daniel89710/trt-lightnet</a:t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/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>Repository:</a:t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>  github.com/tier4/trt-lightnet</a:t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/>
            </a:r>
          </a:p>
          <a:p>
            <a:pPr algn="l"/>
            <a:r>
              <a:rPr sz="1100">
                <a:solidFill>
                  <a:srgbClr val="444444"/>
                </a:solidFill>
              </a:rPr>
              <a:t>License: Apache 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